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192"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0859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Satrack es el target elegido para el Reto Linzor: réplica directa, en Colombia, de la tesis que Linzor ya ejecutó con Numaris en México.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ManuelDLTG/Reto-Linzor"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096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2F5FA8"/>
                </a:solidFill>
                <a:latin typeface="IBM Plex Mono" pitchFamily="34" charset="0"/>
                <a:ea typeface="IBM Plex Mono" pitchFamily="34" charset="-122"/>
                <a:cs typeface="IBM Plex Mono" pitchFamily="34" charset="-120"/>
              </a:rPr>
              <a:t>RETO LINZOR — CASO DE INVERSIÓN</a:t>
            </a:r>
            <a:endParaRPr lang="en-US" sz="1100" dirty="0"/>
          </a:p>
        </p:txBody>
      </p:sp>
      <p:sp>
        <p:nvSpPr>
          <p:cNvPr id="3" name="Text 1"/>
          <p:cNvSpPr/>
          <p:nvPr/>
        </p:nvSpPr>
        <p:spPr>
          <a:xfrm>
            <a:off x="812800" y="1097260"/>
            <a:ext cx="10883392" cy="638770"/>
          </a:xfrm>
          <a:prstGeom prst="rect">
            <a:avLst/>
          </a:prstGeom>
          <a:noFill/>
          <a:ln/>
        </p:spPr>
        <p:txBody>
          <a:bodyPr wrap="square" lIns="0" tIns="0" rIns="0" bIns="0" rtlCol="0" anchor="t">
            <a:normAutofit/>
          </a:bodyPr>
          <a:lstStyle/>
          <a:p>
            <a:pPr marL="0" indent="0" algn="l">
              <a:lnSpc>
                <a:spcPts val="4830"/>
              </a:lnSpc>
              <a:buNone/>
            </a:pPr>
            <a:r>
              <a:rPr lang="en-US" sz="4600" b="1" dirty="0">
                <a:solidFill>
                  <a:srgbClr val="0B2440"/>
                </a:solidFill>
                <a:latin typeface="Inter" pitchFamily="34" charset="0"/>
                <a:ea typeface="Inter" pitchFamily="34" charset="-122"/>
                <a:cs typeface="Inter" pitchFamily="34" charset="-120"/>
              </a:rPr>
              <a:t>Satrack S.A.S.</a:t>
            </a:r>
            <a:endParaRPr lang="en-US" sz="4600" dirty="0"/>
          </a:p>
        </p:txBody>
      </p:sp>
      <p:sp>
        <p:nvSpPr>
          <p:cNvPr id="4" name="Text 2"/>
          <p:cNvSpPr/>
          <p:nvPr/>
        </p:nvSpPr>
        <p:spPr>
          <a:xfrm>
            <a:off x="812800" y="179953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6B7A"/>
                </a:solidFill>
                <a:latin typeface="Inter" pitchFamily="34" charset="0"/>
                <a:ea typeface="Inter" pitchFamily="34" charset="-122"/>
                <a:cs typeface="Inter" pitchFamily="34" charset="-120"/>
              </a:rPr>
              <a:t>Telemática y gestión de flotas · Medellín, Colombia · Fundada en 1994</a:t>
            </a:r>
            <a:endParaRPr lang="en-US" sz="1500" dirty="0"/>
          </a:p>
        </p:txBody>
      </p:sp>
      <p:sp>
        <p:nvSpPr>
          <p:cNvPr id="5" name="Shape 3"/>
          <p:cNvSpPr/>
          <p:nvPr/>
        </p:nvSpPr>
        <p:spPr>
          <a:xfrm>
            <a:off x="815975" y="2298005"/>
            <a:ext cx="2520950" cy="1040110"/>
          </a:xfrm>
          <a:prstGeom prst="roundRect">
            <a:avLst>
              <a:gd name="adj" fmla="val 9463"/>
            </a:avLst>
          </a:prstGeom>
          <a:solidFill>
            <a:srgbClr val="FFFFFF"/>
          </a:solidFill>
          <a:ln w="6350">
            <a:solidFill>
              <a:srgbClr val="E1E5EA"/>
            </a:solidFill>
            <a:prstDash val="solid"/>
          </a:ln>
        </p:spPr>
        <p:txBody>
          <a:bodyPr/>
          <a:lstStyle/>
          <a:p>
            <a:endParaRPr lang="es-ES_tradnl"/>
          </a:p>
        </p:txBody>
      </p:sp>
      <p:sp>
        <p:nvSpPr>
          <p:cNvPr id="6" name="Text 4"/>
          <p:cNvSpPr/>
          <p:nvPr/>
        </p:nvSpPr>
        <p:spPr>
          <a:xfrm>
            <a:off x="1022350" y="2478980"/>
            <a:ext cx="2171446" cy="469900"/>
          </a:xfrm>
          <a:prstGeom prst="rect">
            <a:avLst/>
          </a:prstGeom>
          <a:noFill/>
          <a:ln/>
        </p:spPr>
        <p:txBody>
          <a:bodyPr wrap="square" lIns="0" tIns="0" rIns="0" bIns="0" rtlCol="0" anchor="t">
            <a:normAutofit/>
          </a:bodyPr>
          <a:lstStyle/>
          <a:p>
            <a:pPr marL="0" indent="0" algn="l">
              <a:lnSpc>
                <a:spcPts val="3500"/>
              </a:lnSpc>
              <a:buNone/>
            </a:pPr>
            <a:r>
              <a:rPr lang="en-US" sz="2500" b="1" dirty="0">
                <a:solidFill>
                  <a:srgbClr val="0B2440"/>
                </a:solidFill>
                <a:latin typeface="IBM Plex Mono" pitchFamily="34" charset="0"/>
                <a:ea typeface="IBM Plex Mono" pitchFamily="34" charset="-122"/>
                <a:cs typeface="IBM Plex Mono" pitchFamily="34" charset="-120"/>
              </a:rPr>
              <a:t>US$32.2M</a:t>
            </a:r>
            <a:endParaRPr lang="en-US" sz="2500" dirty="0"/>
          </a:p>
        </p:txBody>
      </p:sp>
      <p:sp>
        <p:nvSpPr>
          <p:cNvPr id="7" name="Text 5"/>
          <p:cNvSpPr/>
          <p:nvPr/>
        </p:nvSpPr>
        <p:spPr>
          <a:xfrm>
            <a:off x="1022350" y="2961580"/>
            <a:ext cx="2171446"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B6B7A"/>
                </a:solidFill>
                <a:latin typeface="Inter" pitchFamily="34" charset="0"/>
                <a:ea typeface="Inter" pitchFamily="34" charset="-122"/>
                <a:cs typeface="Inter" pitchFamily="34" charset="-120"/>
              </a:rPr>
              <a:t>Ventas 2025</a:t>
            </a:r>
            <a:endParaRPr lang="en-US" sz="1100" dirty="0"/>
          </a:p>
        </p:txBody>
      </p:sp>
      <p:sp>
        <p:nvSpPr>
          <p:cNvPr id="8" name="Shape 6"/>
          <p:cNvSpPr/>
          <p:nvPr/>
        </p:nvSpPr>
        <p:spPr>
          <a:xfrm>
            <a:off x="3495675" y="2298005"/>
            <a:ext cx="2520950" cy="1040110"/>
          </a:xfrm>
          <a:prstGeom prst="roundRect">
            <a:avLst>
              <a:gd name="adj" fmla="val 9463"/>
            </a:avLst>
          </a:prstGeom>
          <a:solidFill>
            <a:srgbClr val="FFFFFF"/>
          </a:solidFill>
          <a:ln w="6350">
            <a:solidFill>
              <a:srgbClr val="E1E5EA"/>
            </a:solidFill>
            <a:prstDash val="solid"/>
          </a:ln>
        </p:spPr>
        <p:txBody>
          <a:bodyPr/>
          <a:lstStyle/>
          <a:p>
            <a:endParaRPr lang="es-ES_tradnl"/>
          </a:p>
        </p:txBody>
      </p:sp>
      <p:sp>
        <p:nvSpPr>
          <p:cNvPr id="9" name="Text 7"/>
          <p:cNvSpPr/>
          <p:nvPr/>
        </p:nvSpPr>
        <p:spPr>
          <a:xfrm>
            <a:off x="3702050" y="2478980"/>
            <a:ext cx="2171446" cy="469900"/>
          </a:xfrm>
          <a:prstGeom prst="rect">
            <a:avLst/>
          </a:prstGeom>
          <a:noFill/>
          <a:ln/>
        </p:spPr>
        <p:txBody>
          <a:bodyPr wrap="square" lIns="0" tIns="0" rIns="0" bIns="0" rtlCol="0" anchor="t">
            <a:normAutofit/>
          </a:bodyPr>
          <a:lstStyle/>
          <a:p>
            <a:pPr marL="0" indent="0" algn="l">
              <a:lnSpc>
                <a:spcPts val="3500"/>
              </a:lnSpc>
              <a:buNone/>
            </a:pPr>
            <a:r>
              <a:rPr lang="en-US" sz="2500" b="1" dirty="0">
                <a:solidFill>
                  <a:srgbClr val="0B2440"/>
                </a:solidFill>
                <a:latin typeface="IBM Plex Mono" pitchFamily="34" charset="0"/>
                <a:ea typeface="IBM Plex Mono" pitchFamily="34" charset="-122"/>
                <a:cs typeface="IBM Plex Mono" pitchFamily="34" charset="-120"/>
              </a:rPr>
              <a:t>+12.8%</a:t>
            </a:r>
            <a:endParaRPr lang="en-US" sz="2500" dirty="0"/>
          </a:p>
        </p:txBody>
      </p:sp>
      <p:sp>
        <p:nvSpPr>
          <p:cNvPr id="10" name="Text 8"/>
          <p:cNvSpPr/>
          <p:nvPr/>
        </p:nvSpPr>
        <p:spPr>
          <a:xfrm>
            <a:off x="3702050" y="2961580"/>
            <a:ext cx="2171446"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B6B7A"/>
                </a:solidFill>
                <a:latin typeface="Inter" pitchFamily="34" charset="0"/>
                <a:ea typeface="Inter" pitchFamily="34" charset="-122"/>
                <a:cs typeface="Inter" pitchFamily="34" charset="-120"/>
              </a:rPr>
              <a:t>Crecimiento interanual</a:t>
            </a:r>
            <a:endParaRPr lang="en-US" sz="1100" dirty="0"/>
          </a:p>
        </p:txBody>
      </p:sp>
      <p:sp>
        <p:nvSpPr>
          <p:cNvPr id="11" name="Shape 9"/>
          <p:cNvSpPr/>
          <p:nvPr/>
        </p:nvSpPr>
        <p:spPr>
          <a:xfrm>
            <a:off x="6175375" y="2298005"/>
            <a:ext cx="2520950" cy="1040110"/>
          </a:xfrm>
          <a:prstGeom prst="roundRect">
            <a:avLst>
              <a:gd name="adj" fmla="val 9463"/>
            </a:avLst>
          </a:prstGeom>
          <a:solidFill>
            <a:srgbClr val="FFFFFF"/>
          </a:solidFill>
          <a:ln w="6350">
            <a:solidFill>
              <a:srgbClr val="E1E5EA"/>
            </a:solidFill>
            <a:prstDash val="solid"/>
          </a:ln>
        </p:spPr>
        <p:txBody>
          <a:bodyPr/>
          <a:lstStyle/>
          <a:p>
            <a:endParaRPr lang="es-ES_tradnl"/>
          </a:p>
        </p:txBody>
      </p:sp>
      <p:sp>
        <p:nvSpPr>
          <p:cNvPr id="12" name="Text 10"/>
          <p:cNvSpPr/>
          <p:nvPr/>
        </p:nvSpPr>
        <p:spPr>
          <a:xfrm>
            <a:off x="6381750" y="2478980"/>
            <a:ext cx="2171446" cy="469900"/>
          </a:xfrm>
          <a:prstGeom prst="rect">
            <a:avLst/>
          </a:prstGeom>
          <a:noFill/>
          <a:ln/>
        </p:spPr>
        <p:txBody>
          <a:bodyPr wrap="square" lIns="0" tIns="0" rIns="0" bIns="0" rtlCol="0" anchor="t">
            <a:normAutofit/>
          </a:bodyPr>
          <a:lstStyle/>
          <a:p>
            <a:pPr marL="0" indent="0" algn="l">
              <a:lnSpc>
                <a:spcPts val="3500"/>
              </a:lnSpc>
              <a:buNone/>
            </a:pPr>
            <a:r>
              <a:rPr lang="en-US" sz="2500" b="1" dirty="0">
                <a:solidFill>
                  <a:srgbClr val="0B2440"/>
                </a:solidFill>
                <a:latin typeface="IBM Plex Mono" pitchFamily="34" charset="0"/>
                <a:ea typeface="IBM Plex Mono" pitchFamily="34" charset="-122"/>
                <a:cs typeface="IBM Plex Mono" pitchFamily="34" charset="-120"/>
              </a:rPr>
              <a:t>17.4%</a:t>
            </a:r>
            <a:endParaRPr lang="en-US" sz="2500" dirty="0"/>
          </a:p>
        </p:txBody>
      </p:sp>
      <p:sp>
        <p:nvSpPr>
          <p:cNvPr id="13" name="Text 11"/>
          <p:cNvSpPr/>
          <p:nvPr/>
        </p:nvSpPr>
        <p:spPr>
          <a:xfrm>
            <a:off x="6381750" y="2961580"/>
            <a:ext cx="2171446"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B6B7A"/>
                </a:solidFill>
                <a:latin typeface="Inter" pitchFamily="34" charset="0"/>
                <a:ea typeface="Inter" pitchFamily="34" charset="-122"/>
                <a:cs typeface="Inter" pitchFamily="34" charset="-120"/>
              </a:rPr>
              <a:t>Margen EBITDA</a:t>
            </a:r>
            <a:endParaRPr lang="en-US" sz="1100" dirty="0"/>
          </a:p>
        </p:txBody>
      </p:sp>
      <p:sp>
        <p:nvSpPr>
          <p:cNvPr id="14" name="Shape 12"/>
          <p:cNvSpPr/>
          <p:nvPr/>
        </p:nvSpPr>
        <p:spPr>
          <a:xfrm>
            <a:off x="8855075" y="2298005"/>
            <a:ext cx="2520950" cy="1040110"/>
          </a:xfrm>
          <a:prstGeom prst="roundRect">
            <a:avLst>
              <a:gd name="adj" fmla="val 9463"/>
            </a:avLst>
          </a:prstGeom>
          <a:solidFill>
            <a:srgbClr val="FFFFFF"/>
          </a:solidFill>
          <a:ln w="6350">
            <a:solidFill>
              <a:srgbClr val="E1E5EA"/>
            </a:solidFill>
            <a:prstDash val="solid"/>
          </a:ln>
        </p:spPr>
        <p:txBody>
          <a:bodyPr/>
          <a:lstStyle/>
          <a:p>
            <a:endParaRPr lang="es-ES_tradnl"/>
          </a:p>
        </p:txBody>
      </p:sp>
      <p:sp>
        <p:nvSpPr>
          <p:cNvPr id="15" name="Text 13"/>
          <p:cNvSpPr/>
          <p:nvPr/>
        </p:nvSpPr>
        <p:spPr>
          <a:xfrm>
            <a:off x="9061450" y="2478980"/>
            <a:ext cx="2171446" cy="469900"/>
          </a:xfrm>
          <a:prstGeom prst="rect">
            <a:avLst/>
          </a:prstGeom>
          <a:noFill/>
          <a:ln/>
        </p:spPr>
        <p:txBody>
          <a:bodyPr wrap="square" lIns="0" tIns="0" rIns="0" bIns="0" rtlCol="0" anchor="t">
            <a:normAutofit/>
          </a:bodyPr>
          <a:lstStyle/>
          <a:p>
            <a:pPr marL="0" indent="0" algn="l">
              <a:lnSpc>
                <a:spcPts val="3500"/>
              </a:lnSpc>
              <a:buNone/>
            </a:pPr>
            <a:r>
              <a:rPr lang="en-US" sz="2500" b="1" dirty="0">
                <a:solidFill>
                  <a:srgbClr val="0B2440"/>
                </a:solidFill>
                <a:latin typeface="IBM Plex Mono" pitchFamily="34" charset="0"/>
                <a:ea typeface="IBM Plex Mono" pitchFamily="34" charset="-122"/>
                <a:cs typeface="IBM Plex Mono" pitchFamily="34" charset="-120"/>
              </a:rPr>
              <a:t>30+</a:t>
            </a:r>
            <a:endParaRPr lang="en-US" sz="2500" dirty="0"/>
          </a:p>
        </p:txBody>
      </p:sp>
      <p:sp>
        <p:nvSpPr>
          <p:cNvPr id="16" name="Text 14"/>
          <p:cNvSpPr/>
          <p:nvPr/>
        </p:nvSpPr>
        <p:spPr>
          <a:xfrm>
            <a:off x="9061450" y="2961580"/>
            <a:ext cx="2171446"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B6B7A"/>
                </a:solidFill>
                <a:latin typeface="Inter" pitchFamily="34" charset="0"/>
                <a:ea typeface="Inter" pitchFamily="34" charset="-122"/>
                <a:cs typeface="Inter" pitchFamily="34" charset="-120"/>
              </a:rPr>
              <a:t>Años operando</a:t>
            </a:r>
            <a:endParaRPr lang="en-US" sz="1100" dirty="0"/>
          </a:p>
        </p:txBody>
      </p:sp>
      <p:sp>
        <p:nvSpPr>
          <p:cNvPr id="17" name="Text 15"/>
          <p:cNvSpPr/>
          <p:nvPr/>
        </p:nvSpPr>
        <p:spPr>
          <a:xfrm>
            <a:off x="812800" y="3569891"/>
            <a:ext cx="528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2440"/>
                </a:solidFill>
                <a:latin typeface="Inter" pitchFamily="34" charset="0"/>
                <a:ea typeface="Inter" pitchFamily="34" charset="-122"/>
                <a:cs typeface="Inter" pitchFamily="34" charset="-120"/>
              </a:rPr>
              <a:t>Qué hace</a:t>
            </a:r>
            <a:endParaRPr lang="en-US" sz="1500" dirty="0"/>
          </a:p>
        </p:txBody>
      </p:sp>
      <p:sp>
        <p:nvSpPr>
          <p:cNvPr id="18" name="Text 16"/>
          <p:cNvSpPr/>
          <p:nvPr/>
        </p:nvSpPr>
        <p:spPr>
          <a:xfrm>
            <a:off x="812800" y="3912791"/>
            <a:ext cx="5284724" cy="90924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2202E"/>
                </a:solidFill>
                <a:latin typeface="Inter" pitchFamily="34" charset="0"/>
                <a:ea typeface="Inter" pitchFamily="34" charset="-122"/>
                <a:cs typeface="Inter" pitchFamily="34" charset="-120"/>
              </a:rPr>
              <a:t>Nació en 1994 como rastreo antirrobo y evolucionó a una plataforma SaaS de telemática y gestión de flotas: rutas, conducción, mantenimiento y logística. 323 empleados; liderada por Federico Salazar Pineda desde el año 2000.</a:t>
            </a:r>
            <a:endParaRPr lang="en-US" sz="1200" dirty="0"/>
          </a:p>
        </p:txBody>
      </p:sp>
      <p:sp>
        <p:nvSpPr>
          <p:cNvPr id="19" name="Text 17"/>
          <p:cNvSpPr/>
          <p:nvPr/>
        </p:nvSpPr>
        <p:spPr>
          <a:xfrm>
            <a:off x="6248400" y="3569891"/>
            <a:ext cx="528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2440"/>
                </a:solidFill>
                <a:latin typeface="Inter" pitchFamily="34" charset="0"/>
                <a:ea typeface="Inter" pitchFamily="34" charset="-122"/>
                <a:cs typeface="Inter" pitchFamily="34" charset="-120"/>
              </a:rPr>
              <a:t>Tailwinds del sector y dinámica competitiva</a:t>
            </a:r>
            <a:endParaRPr lang="en-US" sz="1500" dirty="0"/>
          </a:p>
        </p:txBody>
      </p:sp>
      <p:sp>
        <p:nvSpPr>
          <p:cNvPr id="20" name="Shape 18"/>
          <p:cNvSpPr/>
          <p:nvPr/>
        </p:nvSpPr>
        <p:spPr>
          <a:xfrm>
            <a:off x="6251575" y="3890566"/>
            <a:ext cx="650180" cy="285750"/>
          </a:xfrm>
          <a:prstGeom prst="roundRect">
            <a:avLst>
              <a:gd name="adj" fmla="val 50000"/>
            </a:avLst>
          </a:prstGeom>
          <a:solidFill>
            <a:srgbClr val="FFFFFF"/>
          </a:solidFill>
          <a:ln w="6350">
            <a:solidFill>
              <a:srgbClr val="E1E5EA"/>
            </a:solidFill>
            <a:prstDash val="solid"/>
          </a:ln>
        </p:spPr>
        <p:txBody>
          <a:bodyPr/>
          <a:lstStyle/>
          <a:p>
            <a:endParaRPr lang="es-ES_tradnl"/>
          </a:p>
        </p:txBody>
      </p:sp>
      <p:sp>
        <p:nvSpPr>
          <p:cNvPr id="21" name="Text 19"/>
          <p:cNvSpPr/>
          <p:nvPr/>
        </p:nvSpPr>
        <p:spPr>
          <a:xfrm>
            <a:off x="6369050" y="3944541"/>
            <a:ext cx="466030"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2202E"/>
                </a:solidFill>
                <a:latin typeface="Inter" pitchFamily="34" charset="0"/>
                <a:ea typeface="Inter" pitchFamily="34" charset="-122"/>
                <a:cs typeface="Inter" pitchFamily="34" charset="-120"/>
              </a:rPr>
              <a:t>Sitrack</a:t>
            </a:r>
            <a:endParaRPr lang="en-US" sz="1000" dirty="0"/>
          </a:p>
        </p:txBody>
      </p:sp>
      <p:sp>
        <p:nvSpPr>
          <p:cNvPr id="22" name="Shape 20"/>
          <p:cNvSpPr/>
          <p:nvPr/>
        </p:nvSpPr>
        <p:spPr>
          <a:xfrm>
            <a:off x="6958905" y="3890566"/>
            <a:ext cx="543223" cy="285750"/>
          </a:xfrm>
          <a:prstGeom prst="roundRect">
            <a:avLst>
              <a:gd name="adj" fmla="val 50000"/>
            </a:avLst>
          </a:prstGeom>
          <a:solidFill>
            <a:srgbClr val="FFFFFF"/>
          </a:solidFill>
          <a:ln w="6350">
            <a:solidFill>
              <a:srgbClr val="E1E5EA"/>
            </a:solidFill>
            <a:prstDash val="solid"/>
          </a:ln>
        </p:spPr>
        <p:txBody>
          <a:bodyPr/>
          <a:lstStyle/>
          <a:p>
            <a:endParaRPr lang="es-ES_tradnl"/>
          </a:p>
        </p:txBody>
      </p:sp>
      <p:sp>
        <p:nvSpPr>
          <p:cNvPr id="23" name="Text 21"/>
          <p:cNvSpPr/>
          <p:nvPr/>
        </p:nvSpPr>
        <p:spPr>
          <a:xfrm>
            <a:off x="7076380" y="3944541"/>
            <a:ext cx="359073"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2202E"/>
                </a:solidFill>
                <a:latin typeface="Inter" pitchFamily="34" charset="0"/>
                <a:ea typeface="Inter" pitchFamily="34" charset="-122"/>
                <a:cs typeface="Inter" pitchFamily="34" charset="-120"/>
              </a:rPr>
              <a:t>Cobli</a:t>
            </a:r>
            <a:endParaRPr lang="en-US" sz="1000" dirty="0"/>
          </a:p>
        </p:txBody>
      </p:sp>
      <p:sp>
        <p:nvSpPr>
          <p:cNvPr id="24" name="Shape 22"/>
          <p:cNvSpPr/>
          <p:nvPr/>
        </p:nvSpPr>
        <p:spPr>
          <a:xfrm>
            <a:off x="7559278" y="3890566"/>
            <a:ext cx="891679" cy="285750"/>
          </a:xfrm>
          <a:prstGeom prst="roundRect">
            <a:avLst>
              <a:gd name="adj" fmla="val 50000"/>
            </a:avLst>
          </a:prstGeom>
          <a:solidFill>
            <a:srgbClr val="FFFFFF"/>
          </a:solidFill>
          <a:ln w="6350">
            <a:solidFill>
              <a:srgbClr val="E1E5EA"/>
            </a:solidFill>
            <a:prstDash val="solid"/>
          </a:ln>
        </p:spPr>
        <p:txBody>
          <a:bodyPr/>
          <a:lstStyle/>
          <a:p>
            <a:endParaRPr lang="es-ES_tradnl"/>
          </a:p>
        </p:txBody>
      </p:sp>
      <p:sp>
        <p:nvSpPr>
          <p:cNvPr id="25" name="Text 23"/>
          <p:cNvSpPr/>
          <p:nvPr/>
        </p:nvSpPr>
        <p:spPr>
          <a:xfrm>
            <a:off x="7676753" y="3944541"/>
            <a:ext cx="707529"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2202E"/>
                </a:solidFill>
                <a:latin typeface="Inter" pitchFamily="34" charset="0"/>
                <a:ea typeface="Inter" pitchFamily="34" charset="-122"/>
                <a:cs typeface="Inter" pitchFamily="34" charset="-120"/>
              </a:rPr>
              <a:t>3Dtracking</a:t>
            </a:r>
            <a:endParaRPr lang="en-US" sz="1000" dirty="0"/>
          </a:p>
        </p:txBody>
      </p:sp>
      <p:sp>
        <p:nvSpPr>
          <p:cNvPr id="26" name="Shape 24"/>
          <p:cNvSpPr/>
          <p:nvPr/>
        </p:nvSpPr>
        <p:spPr>
          <a:xfrm>
            <a:off x="8508107" y="3890566"/>
            <a:ext cx="834926" cy="285750"/>
          </a:xfrm>
          <a:prstGeom prst="roundRect">
            <a:avLst>
              <a:gd name="adj" fmla="val 50000"/>
            </a:avLst>
          </a:prstGeom>
          <a:solidFill>
            <a:srgbClr val="FFFFFF"/>
          </a:solidFill>
          <a:ln w="6350">
            <a:solidFill>
              <a:srgbClr val="E1E5EA"/>
            </a:solidFill>
            <a:prstDash val="solid"/>
          </a:ln>
        </p:spPr>
        <p:txBody>
          <a:bodyPr/>
          <a:lstStyle/>
          <a:p>
            <a:endParaRPr lang="es-ES_tradnl"/>
          </a:p>
        </p:txBody>
      </p:sp>
      <p:sp>
        <p:nvSpPr>
          <p:cNvPr id="27" name="Text 25"/>
          <p:cNvSpPr/>
          <p:nvPr/>
        </p:nvSpPr>
        <p:spPr>
          <a:xfrm>
            <a:off x="8625582" y="3944541"/>
            <a:ext cx="650776"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2202E"/>
                </a:solidFill>
                <a:latin typeface="Inter" pitchFamily="34" charset="0"/>
                <a:ea typeface="Inter" pitchFamily="34" charset="-122"/>
                <a:cs typeface="Inter" pitchFamily="34" charset="-120"/>
              </a:rPr>
              <a:t>Wisetrack</a:t>
            </a:r>
            <a:endParaRPr lang="en-US" sz="1000" dirty="0"/>
          </a:p>
        </p:txBody>
      </p:sp>
      <p:sp>
        <p:nvSpPr>
          <p:cNvPr id="28" name="Shape 26"/>
          <p:cNvSpPr/>
          <p:nvPr/>
        </p:nvSpPr>
        <p:spPr>
          <a:xfrm>
            <a:off x="9400183" y="3890566"/>
            <a:ext cx="795734" cy="285750"/>
          </a:xfrm>
          <a:prstGeom prst="roundRect">
            <a:avLst>
              <a:gd name="adj" fmla="val 50000"/>
            </a:avLst>
          </a:prstGeom>
          <a:solidFill>
            <a:srgbClr val="FFFFFF"/>
          </a:solidFill>
          <a:ln w="6350">
            <a:solidFill>
              <a:srgbClr val="E1E5EA"/>
            </a:solidFill>
            <a:prstDash val="solid"/>
          </a:ln>
        </p:spPr>
        <p:txBody>
          <a:bodyPr/>
          <a:lstStyle/>
          <a:p>
            <a:endParaRPr lang="es-ES_tradnl"/>
          </a:p>
        </p:txBody>
      </p:sp>
      <p:sp>
        <p:nvSpPr>
          <p:cNvPr id="29" name="Text 27"/>
          <p:cNvSpPr/>
          <p:nvPr/>
        </p:nvSpPr>
        <p:spPr>
          <a:xfrm>
            <a:off x="9517658" y="3944541"/>
            <a:ext cx="611584"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2202E"/>
                </a:solidFill>
                <a:latin typeface="Inter" pitchFamily="34" charset="0"/>
                <a:ea typeface="Inter" pitchFamily="34" charset="-122"/>
                <a:cs typeface="Inter" pitchFamily="34" charset="-120"/>
              </a:rPr>
              <a:t>Maxtrack</a:t>
            </a:r>
            <a:endParaRPr lang="en-US" sz="1000" dirty="0"/>
          </a:p>
        </p:txBody>
      </p:sp>
      <p:sp>
        <p:nvSpPr>
          <p:cNvPr id="30" name="Text 28"/>
          <p:cNvSpPr/>
          <p:nvPr/>
        </p:nvSpPr>
        <p:spPr>
          <a:xfrm>
            <a:off x="6248400" y="4268391"/>
            <a:ext cx="5284724" cy="196850"/>
          </a:xfrm>
          <a:prstGeom prst="rect">
            <a:avLst/>
          </a:prstGeom>
          <a:noFill/>
          <a:ln/>
        </p:spPr>
        <p:txBody>
          <a:bodyPr wrap="square" lIns="0" tIns="0" rIns="0" bIns="0" rtlCol="0" anchor="t">
            <a:normAutofit/>
          </a:bodyPr>
          <a:lstStyle/>
          <a:p>
            <a:pPr marL="0" indent="0" algn="l">
              <a:lnSpc>
                <a:spcPts val="1350"/>
              </a:lnSpc>
              <a:buNone/>
            </a:pPr>
            <a:r>
              <a:rPr lang="en-US" sz="1000" dirty="0">
                <a:solidFill>
                  <a:srgbClr val="5B6B7A"/>
                </a:solidFill>
                <a:latin typeface="Inter" pitchFamily="34" charset="0"/>
                <a:ea typeface="Inter" pitchFamily="34" charset="-122"/>
                <a:cs typeface="Inter" pitchFamily="34" charset="-120"/>
              </a:rPr>
              <a:t>~100,000 unidades instaladas c/u — mercado fragmentado, sin líder consolidado.</a:t>
            </a:r>
            <a:endParaRPr lang="en-US" sz="1000" dirty="0"/>
          </a:p>
        </p:txBody>
      </p:sp>
      <p:sp>
        <p:nvSpPr>
          <p:cNvPr id="31" name="Text 29"/>
          <p:cNvSpPr/>
          <p:nvPr/>
        </p:nvSpPr>
        <p:spPr>
          <a:xfrm>
            <a:off x="6248400" y="4528741"/>
            <a:ext cx="5284724" cy="355600"/>
          </a:xfrm>
          <a:prstGeom prst="rect">
            <a:avLst/>
          </a:prstGeom>
          <a:noFill/>
          <a:ln/>
        </p:spPr>
        <p:txBody>
          <a:bodyPr wrap="square" lIns="0" tIns="0" rIns="0" bIns="0" rtlCol="0" anchor="t">
            <a:normAutofit/>
          </a:bodyPr>
          <a:lstStyle/>
          <a:p>
            <a:pPr marL="0" indent="0" algn="l">
              <a:lnSpc>
                <a:spcPts val="1300"/>
              </a:lnSpc>
              <a:buNone/>
            </a:pPr>
            <a:r>
              <a:rPr lang="en-US" sz="1000" dirty="0">
                <a:solidFill>
                  <a:srgbClr val="2F5FA8"/>
                </a:solidFill>
                <a:latin typeface="Inter" pitchFamily="34" charset="0"/>
                <a:ea typeface="Inter" pitchFamily="34" charset="-122"/>
                <a:cs typeface="Inter" pitchFamily="34" charset="-120"/>
              </a:rPr>
              <a:t>■</a:t>
            </a:r>
            <a:r>
              <a:rPr lang="en-US" sz="1000" dirty="0">
                <a:solidFill>
                  <a:srgbClr val="12202E"/>
                </a:solidFill>
                <a:latin typeface="Inter" pitchFamily="34" charset="0"/>
                <a:ea typeface="Inter" pitchFamily="34" charset="-122"/>
                <a:cs typeface="Inter" pitchFamily="34" charset="-120"/>
              </a:rPr>
              <a:t> </a:t>
            </a:r>
            <a:r>
              <a:rPr lang="en-US" sz="1000" b="1" dirty="0">
                <a:solidFill>
                  <a:srgbClr val="12202E"/>
                </a:solidFill>
                <a:latin typeface="Inter" pitchFamily="34" charset="0"/>
                <a:ea typeface="Inter" pitchFamily="34" charset="-122"/>
                <a:cs typeface="Inter" pitchFamily="34" charset="-120"/>
              </a:rPr>
              <a:t>Nearshoring:</a:t>
            </a:r>
            <a:r>
              <a:rPr lang="en-US" sz="1000" dirty="0">
                <a:solidFill>
                  <a:srgbClr val="12202E"/>
                </a:solidFill>
                <a:latin typeface="Inter" pitchFamily="34" charset="0"/>
                <a:ea typeface="Inter" pitchFamily="34" charset="-122"/>
                <a:cs typeface="Inter" pitchFamily="34" charset="-120"/>
              </a:rPr>
              <a:t> más carga cruzando la frontera exige visibilidad y cumplimiento en tiempo real.</a:t>
            </a:r>
            <a:endParaRPr lang="en-US" sz="1000" dirty="0"/>
          </a:p>
        </p:txBody>
      </p:sp>
      <p:sp>
        <p:nvSpPr>
          <p:cNvPr id="32" name="Text 30"/>
          <p:cNvSpPr/>
          <p:nvPr/>
        </p:nvSpPr>
        <p:spPr>
          <a:xfrm>
            <a:off x="6248400" y="4909741"/>
            <a:ext cx="5284724" cy="190500"/>
          </a:xfrm>
          <a:prstGeom prst="rect">
            <a:avLst/>
          </a:prstGeom>
          <a:noFill/>
          <a:ln/>
        </p:spPr>
        <p:txBody>
          <a:bodyPr wrap="square" lIns="0" tIns="0" rIns="0" bIns="0" rtlCol="0" anchor="t">
            <a:normAutofit/>
          </a:bodyPr>
          <a:lstStyle/>
          <a:p>
            <a:pPr marL="0" indent="0" algn="l">
              <a:lnSpc>
                <a:spcPts val="1300"/>
              </a:lnSpc>
              <a:buNone/>
            </a:pPr>
            <a:r>
              <a:rPr lang="en-US" sz="1000" dirty="0">
                <a:solidFill>
                  <a:srgbClr val="2F5FA8"/>
                </a:solidFill>
                <a:latin typeface="Inter" pitchFamily="34" charset="0"/>
                <a:ea typeface="Inter" pitchFamily="34" charset="-122"/>
                <a:cs typeface="Inter" pitchFamily="34" charset="-120"/>
              </a:rPr>
              <a:t>■</a:t>
            </a:r>
            <a:r>
              <a:rPr lang="en-US" sz="1000" dirty="0">
                <a:solidFill>
                  <a:srgbClr val="12202E"/>
                </a:solidFill>
                <a:latin typeface="Inter" pitchFamily="34" charset="0"/>
                <a:ea typeface="Inter" pitchFamily="34" charset="-122"/>
                <a:cs typeface="Inter" pitchFamily="34" charset="-120"/>
              </a:rPr>
              <a:t> </a:t>
            </a:r>
            <a:r>
              <a:rPr lang="en-US" sz="1000" b="1" dirty="0">
                <a:solidFill>
                  <a:srgbClr val="12202E"/>
                </a:solidFill>
                <a:latin typeface="Inter" pitchFamily="34" charset="0"/>
                <a:ea typeface="Inter" pitchFamily="34" charset="-122"/>
                <a:cs typeface="Inter" pitchFamily="34" charset="-120"/>
              </a:rPr>
              <a:t>E-commerce:</a:t>
            </a:r>
            <a:r>
              <a:rPr lang="en-US" sz="1000" dirty="0">
                <a:solidFill>
                  <a:srgbClr val="12202E"/>
                </a:solidFill>
                <a:latin typeface="Inter" pitchFamily="34" charset="0"/>
                <a:ea typeface="Inter" pitchFamily="34" charset="-122"/>
                <a:cs typeface="Inter" pitchFamily="34" charset="-120"/>
              </a:rPr>
              <a:t> la última milla dispara la demanda de optimización de rutas.</a:t>
            </a:r>
            <a:endParaRPr lang="en-US" sz="1000" dirty="0"/>
          </a:p>
        </p:txBody>
      </p:sp>
      <p:sp>
        <p:nvSpPr>
          <p:cNvPr id="33" name="Text 31"/>
          <p:cNvSpPr/>
          <p:nvPr/>
        </p:nvSpPr>
        <p:spPr>
          <a:xfrm>
            <a:off x="6248400" y="5125641"/>
            <a:ext cx="5284724" cy="190500"/>
          </a:xfrm>
          <a:prstGeom prst="rect">
            <a:avLst/>
          </a:prstGeom>
          <a:noFill/>
          <a:ln/>
        </p:spPr>
        <p:txBody>
          <a:bodyPr wrap="square" lIns="0" tIns="0" rIns="0" bIns="0" rtlCol="0" anchor="t">
            <a:normAutofit/>
          </a:bodyPr>
          <a:lstStyle/>
          <a:p>
            <a:pPr marL="0" indent="0" algn="l">
              <a:lnSpc>
                <a:spcPts val="1300"/>
              </a:lnSpc>
              <a:buNone/>
            </a:pPr>
            <a:r>
              <a:rPr lang="en-US" sz="1000" dirty="0">
                <a:solidFill>
                  <a:srgbClr val="2F5FA8"/>
                </a:solidFill>
                <a:latin typeface="Inter" pitchFamily="34" charset="0"/>
                <a:ea typeface="Inter" pitchFamily="34" charset="-122"/>
                <a:cs typeface="Inter" pitchFamily="34" charset="-120"/>
              </a:rPr>
              <a:t>■</a:t>
            </a:r>
            <a:r>
              <a:rPr lang="en-US" sz="1000" dirty="0">
                <a:solidFill>
                  <a:srgbClr val="12202E"/>
                </a:solidFill>
                <a:latin typeface="Inter" pitchFamily="34" charset="0"/>
                <a:ea typeface="Inter" pitchFamily="34" charset="-122"/>
                <a:cs typeface="Inter" pitchFamily="34" charset="-120"/>
              </a:rPr>
              <a:t> </a:t>
            </a:r>
            <a:r>
              <a:rPr lang="en-US" sz="1000" b="1" dirty="0">
                <a:solidFill>
                  <a:srgbClr val="12202E"/>
                </a:solidFill>
                <a:latin typeface="Inter" pitchFamily="34" charset="0"/>
                <a:ea typeface="Inter" pitchFamily="34" charset="-122"/>
                <a:cs typeface="Inter" pitchFamily="34" charset="-120"/>
              </a:rPr>
              <a:t>Regulación:</a:t>
            </a:r>
            <a:r>
              <a:rPr lang="en-US" sz="1000" dirty="0">
                <a:solidFill>
                  <a:srgbClr val="12202E"/>
                </a:solidFill>
                <a:latin typeface="Inter" pitchFamily="34" charset="0"/>
                <a:ea typeface="Inter" pitchFamily="34" charset="-122"/>
                <a:cs typeface="Inter" pitchFamily="34" charset="-120"/>
              </a:rPr>
              <a:t> mayores exigencias de seguridad y trazabilidad de carga.</a:t>
            </a:r>
            <a:endParaRPr lang="en-US" sz="1000" dirty="0"/>
          </a:p>
        </p:txBody>
      </p:sp>
      <p:sp>
        <p:nvSpPr>
          <p:cNvPr id="34" name="Text 32"/>
          <p:cNvSpPr/>
          <p:nvPr/>
        </p:nvSpPr>
        <p:spPr>
          <a:xfrm>
            <a:off x="812800" y="6264970"/>
            <a:ext cx="9156700" cy="212030"/>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8A94A0"/>
                </a:solidFill>
                <a:latin typeface="Inter" pitchFamily="34" charset="0"/>
                <a:ea typeface="Inter" pitchFamily="34" charset="-122"/>
                <a:cs typeface="Inter" pitchFamily="34" charset="-120"/>
              </a:rPr>
              <a:t>Fuente: SIIS — Superintendencia de Sociedades, corte 2025-12-31 · LinkedIn · 1 / 3</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096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2F5FA8"/>
                </a:solidFill>
                <a:latin typeface="IBM Plex Mono" pitchFamily="34" charset="0"/>
                <a:ea typeface="IBM Plex Mono" pitchFamily="34" charset="-122"/>
                <a:cs typeface="IBM Plex Mono" pitchFamily="34" charset="-120"/>
              </a:rPr>
              <a:t>TESIS DE INVERSIÓN</a:t>
            </a:r>
            <a:endParaRPr lang="en-US" sz="1100" dirty="0"/>
          </a:p>
        </p:txBody>
      </p:sp>
      <p:sp>
        <p:nvSpPr>
          <p:cNvPr id="3" name="Text 1"/>
          <p:cNvSpPr/>
          <p:nvPr/>
        </p:nvSpPr>
        <p:spPr>
          <a:xfrm>
            <a:off x="812800" y="109726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B2440"/>
                </a:solidFill>
                <a:latin typeface="Inter" pitchFamily="34" charset="0"/>
                <a:ea typeface="Inter" pitchFamily="34" charset="-122"/>
                <a:cs typeface="Inter" pitchFamily="34" charset="-120"/>
              </a:rPr>
              <a:t>El hueco de tamaño que Linzor puede llenar</a:t>
            </a:r>
            <a:endParaRPr lang="en-US" sz="2800" dirty="0"/>
          </a:p>
        </p:txBody>
      </p:sp>
      <p:sp>
        <p:nvSpPr>
          <p:cNvPr id="4" name="Text 2"/>
          <p:cNvSpPr/>
          <p:nvPr/>
        </p:nvSpPr>
        <p:spPr>
          <a:xfrm>
            <a:off x="812800" y="1577280"/>
            <a:ext cx="1088339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A"/>
                </a:solidFill>
                <a:latin typeface="Inter" pitchFamily="34" charset="0"/>
                <a:ea typeface="Inter" pitchFamily="34" charset="-122"/>
                <a:cs typeface="Inter" pitchFamily="34" charset="-120"/>
              </a:rPr>
              <a:t>Misma tesis que Linzor validó con Numaris en México, en un segundo mercado del portafolio. Los fondos globales ya se llevaron los mejores activos colombianos —Advent compró Siesa, H.I.G. compró Digital Ware— dejando exactamente la ventana de tamaño que el Fondo IV puede llenar.</a:t>
            </a:r>
            <a:endParaRPr lang="en-US" sz="1200" dirty="0"/>
          </a:p>
        </p:txBody>
      </p:sp>
      <p:sp>
        <p:nvSpPr>
          <p:cNvPr id="5" name="Shape 3"/>
          <p:cNvSpPr/>
          <p:nvPr/>
        </p:nvSpPr>
        <p:spPr>
          <a:xfrm>
            <a:off x="815975" y="2423616"/>
            <a:ext cx="3414117" cy="1175841"/>
          </a:xfrm>
          <a:prstGeom prst="roundRect">
            <a:avLst>
              <a:gd name="adj" fmla="val 8371"/>
            </a:avLst>
          </a:prstGeom>
          <a:solidFill>
            <a:srgbClr val="FFFFFF"/>
          </a:solidFill>
          <a:ln w="6350">
            <a:solidFill>
              <a:srgbClr val="E1E5EA"/>
            </a:solidFill>
            <a:prstDash val="solid"/>
          </a:ln>
        </p:spPr>
        <p:txBody>
          <a:bodyPr/>
          <a:lstStyle/>
          <a:p>
            <a:endParaRPr lang="es-ES_tradnl"/>
          </a:p>
        </p:txBody>
      </p:sp>
      <p:sp>
        <p:nvSpPr>
          <p:cNvPr id="6" name="Text 4"/>
          <p:cNvSpPr/>
          <p:nvPr/>
        </p:nvSpPr>
        <p:spPr>
          <a:xfrm>
            <a:off x="1022350" y="2604591"/>
            <a:ext cx="3091408" cy="215900"/>
          </a:xfrm>
          <a:prstGeom prst="rect">
            <a:avLst/>
          </a:prstGeom>
          <a:noFill/>
          <a:ln/>
        </p:spPr>
        <p:txBody>
          <a:bodyPr wrap="square" lIns="0" tIns="0" rIns="0" bIns="0" rtlCol="0" anchor="t">
            <a:normAutofit/>
          </a:bodyPr>
          <a:lstStyle/>
          <a:p>
            <a:pPr marL="0" indent="0" algn="l">
              <a:lnSpc>
                <a:spcPts val="1500"/>
              </a:lnSpc>
              <a:buNone/>
            </a:pPr>
            <a:r>
              <a:rPr lang="en-US" sz="1250" b="1" dirty="0">
                <a:solidFill>
                  <a:srgbClr val="0B2440"/>
                </a:solidFill>
                <a:latin typeface="Inter" pitchFamily="34" charset="0"/>
                <a:ea typeface="Inter" pitchFamily="34" charset="-122"/>
                <a:cs typeface="Inter" pitchFamily="34" charset="-120"/>
              </a:rPr>
              <a:t>Crecimiento orgánico</a:t>
            </a:r>
            <a:endParaRPr lang="en-US" sz="1250" dirty="0"/>
          </a:p>
        </p:txBody>
      </p:sp>
      <p:sp>
        <p:nvSpPr>
          <p:cNvPr id="7" name="Text 5"/>
          <p:cNvSpPr/>
          <p:nvPr/>
        </p:nvSpPr>
        <p:spPr>
          <a:xfrm>
            <a:off x="1022350" y="2858591"/>
            <a:ext cx="3091408" cy="398661"/>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5B6B7A"/>
                </a:solidFill>
                <a:latin typeface="Inter" pitchFamily="34" charset="0"/>
                <a:ea typeface="Inter" pitchFamily="34" charset="-122"/>
                <a:cs typeface="Inter" pitchFamily="34" charset="-120"/>
              </a:rPr>
              <a:t>~13% anual, ya observado en el negocio actual (CAGR 2024–2025: 12.8%).</a:t>
            </a:r>
            <a:endParaRPr lang="en-US" sz="1050" dirty="0"/>
          </a:p>
        </p:txBody>
      </p:sp>
      <p:sp>
        <p:nvSpPr>
          <p:cNvPr id="8" name="Shape 6"/>
          <p:cNvSpPr/>
          <p:nvPr/>
        </p:nvSpPr>
        <p:spPr>
          <a:xfrm>
            <a:off x="4388842" y="2423616"/>
            <a:ext cx="3414216" cy="1175841"/>
          </a:xfrm>
          <a:prstGeom prst="roundRect">
            <a:avLst>
              <a:gd name="adj" fmla="val 8371"/>
            </a:avLst>
          </a:prstGeom>
          <a:solidFill>
            <a:srgbClr val="FFFFFF"/>
          </a:solidFill>
          <a:ln w="6350">
            <a:solidFill>
              <a:srgbClr val="E1E5EA"/>
            </a:solidFill>
            <a:prstDash val="solid"/>
          </a:ln>
        </p:spPr>
        <p:txBody>
          <a:bodyPr/>
          <a:lstStyle/>
          <a:p>
            <a:endParaRPr lang="es-ES_tradnl"/>
          </a:p>
        </p:txBody>
      </p:sp>
      <p:sp>
        <p:nvSpPr>
          <p:cNvPr id="9" name="Text 7"/>
          <p:cNvSpPr/>
          <p:nvPr/>
        </p:nvSpPr>
        <p:spPr>
          <a:xfrm>
            <a:off x="4595217" y="2604591"/>
            <a:ext cx="3091510" cy="215900"/>
          </a:xfrm>
          <a:prstGeom prst="rect">
            <a:avLst/>
          </a:prstGeom>
          <a:noFill/>
          <a:ln/>
        </p:spPr>
        <p:txBody>
          <a:bodyPr wrap="square" lIns="0" tIns="0" rIns="0" bIns="0" rtlCol="0" anchor="t">
            <a:normAutofit/>
          </a:bodyPr>
          <a:lstStyle/>
          <a:p>
            <a:pPr marL="0" indent="0" algn="l">
              <a:lnSpc>
                <a:spcPts val="1500"/>
              </a:lnSpc>
              <a:buNone/>
            </a:pPr>
            <a:r>
              <a:rPr lang="en-US" sz="1250" b="1" dirty="0">
                <a:solidFill>
                  <a:srgbClr val="0B2440"/>
                </a:solidFill>
                <a:latin typeface="Inter" pitchFamily="34" charset="0"/>
                <a:ea typeface="Inter" pitchFamily="34" charset="-122"/>
                <a:cs typeface="Inter" pitchFamily="34" charset="-120"/>
              </a:rPr>
              <a:t>Roll-up de competidores</a:t>
            </a:r>
            <a:endParaRPr lang="en-US" sz="1250" dirty="0"/>
          </a:p>
        </p:txBody>
      </p:sp>
      <p:sp>
        <p:nvSpPr>
          <p:cNvPr id="10" name="Text 8"/>
          <p:cNvSpPr/>
          <p:nvPr/>
        </p:nvSpPr>
        <p:spPr>
          <a:xfrm>
            <a:off x="4595217" y="2858591"/>
            <a:ext cx="3091510" cy="585291"/>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5B6B7A"/>
                </a:solidFill>
                <a:latin typeface="Inter" pitchFamily="34" charset="0"/>
                <a:ea typeface="Inter" pitchFamily="34" charset="-122"/>
                <a:cs typeface="Inter" pitchFamily="34" charset="-120"/>
              </a:rPr>
              <a:t>Mismo playbook de Numaris (Tecnocontrol, Smart Tracker, SFleet) aplicado a Sitrack, Cobli y jugadores más chicos.</a:t>
            </a:r>
            <a:endParaRPr lang="en-US" sz="1050" dirty="0"/>
          </a:p>
        </p:txBody>
      </p:sp>
      <p:sp>
        <p:nvSpPr>
          <p:cNvPr id="11" name="Shape 9"/>
          <p:cNvSpPr/>
          <p:nvPr/>
        </p:nvSpPr>
        <p:spPr>
          <a:xfrm>
            <a:off x="7961809" y="2423616"/>
            <a:ext cx="3414216" cy="1175841"/>
          </a:xfrm>
          <a:prstGeom prst="roundRect">
            <a:avLst>
              <a:gd name="adj" fmla="val 8371"/>
            </a:avLst>
          </a:prstGeom>
          <a:solidFill>
            <a:srgbClr val="FFFFFF"/>
          </a:solidFill>
          <a:ln w="6350">
            <a:solidFill>
              <a:srgbClr val="E1E5EA"/>
            </a:solidFill>
            <a:prstDash val="solid"/>
          </a:ln>
        </p:spPr>
        <p:txBody>
          <a:bodyPr/>
          <a:lstStyle/>
          <a:p>
            <a:endParaRPr lang="es-ES_tradnl"/>
          </a:p>
        </p:txBody>
      </p:sp>
      <p:sp>
        <p:nvSpPr>
          <p:cNvPr id="12" name="Text 10"/>
          <p:cNvSpPr/>
          <p:nvPr/>
        </p:nvSpPr>
        <p:spPr>
          <a:xfrm>
            <a:off x="8168184" y="2604591"/>
            <a:ext cx="3091510" cy="215900"/>
          </a:xfrm>
          <a:prstGeom prst="rect">
            <a:avLst/>
          </a:prstGeom>
          <a:noFill/>
          <a:ln/>
        </p:spPr>
        <p:txBody>
          <a:bodyPr wrap="square" lIns="0" tIns="0" rIns="0" bIns="0" rtlCol="0" anchor="t">
            <a:normAutofit/>
          </a:bodyPr>
          <a:lstStyle/>
          <a:p>
            <a:pPr marL="0" indent="0" algn="l">
              <a:lnSpc>
                <a:spcPts val="1500"/>
              </a:lnSpc>
              <a:buNone/>
            </a:pPr>
            <a:r>
              <a:rPr lang="en-US" sz="1250" b="1" dirty="0">
                <a:solidFill>
                  <a:srgbClr val="0B2440"/>
                </a:solidFill>
                <a:latin typeface="Inter" pitchFamily="34" charset="0"/>
                <a:ea typeface="Inter" pitchFamily="34" charset="-122"/>
                <a:cs typeface="Inter" pitchFamily="34" charset="-120"/>
              </a:rPr>
              <a:t>Expansión de margen</a:t>
            </a:r>
            <a:endParaRPr lang="en-US" sz="1250" dirty="0"/>
          </a:p>
        </p:txBody>
      </p:sp>
      <p:sp>
        <p:nvSpPr>
          <p:cNvPr id="13" name="Text 11"/>
          <p:cNvSpPr/>
          <p:nvPr/>
        </p:nvSpPr>
        <p:spPr>
          <a:xfrm>
            <a:off x="8168184" y="2858591"/>
            <a:ext cx="3091510" cy="585291"/>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5B6B7A"/>
                </a:solidFill>
                <a:latin typeface="Inter" pitchFamily="34" charset="0"/>
                <a:ea typeface="Inter" pitchFamily="34" charset="-122"/>
                <a:cs typeface="Inter" pitchFamily="34" charset="-120"/>
              </a:rPr>
              <a:t>Apalancamiento operativo ya en marcha: margen EBIT subió de 8.9% a 12.4% en un solo año.</a:t>
            </a:r>
            <a:endParaRPr lang="en-US" sz="1050" dirty="0"/>
          </a:p>
        </p:txBody>
      </p:sp>
      <p:sp>
        <p:nvSpPr>
          <p:cNvPr id="14" name="Shape 12"/>
          <p:cNvSpPr/>
          <p:nvPr/>
        </p:nvSpPr>
        <p:spPr>
          <a:xfrm>
            <a:off x="812800" y="3805833"/>
            <a:ext cx="10566400" cy="995660"/>
          </a:xfrm>
          <a:prstGeom prst="roundRect">
            <a:avLst>
              <a:gd name="adj" fmla="val 10204"/>
            </a:avLst>
          </a:prstGeom>
          <a:solidFill>
            <a:srgbClr val="0B2440"/>
          </a:solidFill>
          <a:ln/>
        </p:spPr>
        <p:txBody>
          <a:bodyPr/>
          <a:lstStyle/>
          <a:p>
            <a:endParaRPr lang="es-ES_tradnl"/>
          </a:p>
        </p:txBody>
      </p:sp>
      <p:sp>
        <p:nvSpPr>
          <p:cNvPr id="15" name="Text 13"/>
          <p:cNvSpPr/>
          <p:nvPr/>
        </p:nvSpPr>
        <p:spPr>
          <a:xfrm>
            <a:off x="1066800" y="4009033"/>
            <a:ext cx="3278937" cy="398760"/>
          </a:xfrm>
          <a:prstGeom prst="rect">
            <a:avLst/>
          </a:prstGeom>
          <a:noFill/>
          <a:ln/>
        </p:spPr>
        <p:txBody>
          <a:bodyPr wrap="square" lIns="0" tIns="0" rIns="0" bIns="0" rtlCol="0" anchor="t">
            <a:normAutofit/>
          </a:bodyPr>
          <a:lstStyle/>
          <a:p>
            <a:pPr marL="0" indent="0" algn="l">
              <a:lnSpc>
                <a:spcPts val="2940"/>
              </a:lnSpc>
              <a:buNone/>
            </a:pPr>
            <a:r>
              <a:rPr lang="en-US" sz="2100" b="1" dirty="0">
                <a:solidFill>
                  <a:srgbClr val="FFFFFF"/>
                </a:solidFill>
                <a:latin typeface="IBM Plex Mono" pitchFamily="34" charset="0"/>
                <a:ea typeface="IBM Plex Mono" pitchFamily="34" charset="-122"/>
                <a:cs typeface="IBM Plex Mono" pitchFamily="34" charset="-120"/>
              </a:rPr>
              <a:t>US$26.9M</a:t>
            </a:r>
            <a:endParaRPr lang="en-US" sz="2100" dirty="0"/>
          </a:p>
        </p:txBody>
      </p:sp>
      <p:sp>
        <p:nvSpPr>
          <p:cNvPr id="16" name="Text 14"/>
          <p:cNvSpPr/>
          <p:nvPr/>
        </p:nvSpPr>
        <p:spPr>
          <a:xfrm>
            <a:off x="1066800" y="4420493"/>
            <a:ext cx="327893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AAB8C7"/>
                </a:solidFill>
                <a:latin typeface="Inter" pitchFamily="34" charset="0"/>
                <a:ea typeface="Inter" pitchFamily="34" charset="-122"/>
                <a:cs typeface="Inter" pitchFamily="34" charset="-120"/>
              </a:rPr>
              <a:t>Ticket de equity (caso base)</a:t>
            </a:r>
            <a:endParaRPr lang="en-US" sz="1000" dirty="0"/>
          </a:p>
        </p:txBody>
      </p:sp>
      <p:sp>
        <p:nvSpPr>
          <p:cNvPr id="17" name="Text 15"/>
          <p:cNvSpPr/>
          <p:nvPr/>
        </p:nvSpPr>
        <p:spPr>
          <a:xfrm>
            <a:off x="4504234" y="4009033"/>
            <a:ext cx="3279039" cy="398760"/>
          </a:xfrm>
          <a:prstGeom prst="rect">
            <a:avLst/>
          </a:prstGeom>
          <a:noFill/>
          <a:ln/>
        </p:spPr>
        <p:txBody>
          <a:bodyPr wrap="square" lIns="0" tIns="0" rIns="0" bIns="0" rtlCol="0" anchor="t">
            <a:normAutofit/>
          </a:bodyPr>
          <a:lstStyle/>
          <a:p>
            <a:pPr marL="0" indent="0" algn="l">
              <a:lnSpc>
                <a:spcPts val="2940"/>
              </a:lnSpc>
              <a:buNone/>
            </a:pPr>
            <a:r>
              <a:rPr lang="en-US" sz="2100" b="1" dirty="0">
                <a:solidFill>
                  <a:srgbClr val="FFFFFF"/>
                </a:solidFill>
                <a:latin typeface="IBM Plex Mono" pitchFamily="34" charset="0"/>
                <a:ea typeface="IBM Plex Mono" pitchFamily="34" charset="-122"/>
                <a:cs typeface="IBM Plex Mono" pitchFamily="34" charset="-120"/>
              </a:rPr>
              <a:t>3.66x</a:t>
            </a:r>
            <a:endParaRPr lang="en-US" sz="2100" dirty="0"/>
          </a:p>
        </p:txBody>
      </p:sp>
      <p:sp>
        <p:nvSpPr>
          <p:cNvPr id="18" name="Text 16"/>
          <p:cNvSpPr/>
          <p:nvPr/>
        </p:nvSpPr>
        <p:spPr>
          <a:xfrm>
            <a:off x="4504234" y="4420493"/>
            <a:ext cx="3279039"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AAB8C7"/>
                </a:solidFill>
                <a:latin typeface="Inter" pitchFamily="34" charset="0"/>
                <a:ea typeface="Inter" pitchFamily="34" charset="-122"/>
                <a:cs typeface="Inter" pitchFamily="34" charset="-120"/>
              </a:rPr>
              <a:t>MoM a 5 años</a:t>
            </a:r>
            <a:endParaRPr lang="en-US" sz="1000" dirty="0"/>
          </a:p>
        </p:txBody>
      </p:sp>
      <p:sp>
        <p:nvSpPr>
          <p:cNvPr id="19" name="Text 17"/>
          <p:cNvSpPr/>
          <p:nvPr/>
        </p:nvSpPr>
        <p:spPr>
          <a:xfrm>
            <a:off x="7941766" y="4009033"/>
            <a:ext cx="3278937" cy="398760"/>
          </a:xfrm>
          <a:prstGeom prst="rect">
            <a:avLst/>
          </a:prstGeom>
          <a:noFill/>
          <a:ln/>
        </p:spPr>
        <p:txBody>
          <a:bodyPr wrap="square" lIns="0" tIns="0" rIns="0" bIns="0" rtlCol="0" anchor="t">
            <a:normAutofit/>
          </a:bodyPr>
          <a:lstStyle/>
          <a:p>
            <a:pPr marL="0" indent="0" algn="l">
              <a:lnSpc>
                <a:spcPts val="2940"/>
              </a:lnSpc>
              <a:buNone/>
            </a:pPr>
            <a:r>
              <a:rPr lang="en-US" sz="2100" b="1" dirty="0">
                <a:solidFill>
                  <a:srgbClr val="FFFFFF"/>
                </a:solidFill>
                <a:latin typeface="IBM Plex Mono" pitchFamily="34" charset="0"/>
                <a:ea typeface="IBM Plex Mono" pitchFamily="34" charset="-122"/>
                <a:cs typeface="IBM Plex Mono" pitchFamily="34" charset="-120"/>
              </a:rPr>
              <a:t>29.6%</a:t>
            </a:r>
            <a:endParaRPr lang="en-US" sz="2100" dirty="0"/>
          </a:p>
        </p:txBody>
      </p:sp>
      <p:sp>
        <p:nvSpPr>
          <p:cNvPr id="20" name="Text 18"/>
          <p:cNvSpPr/>
          <p:nvPr/>
        </p:nvSpPr>
        <p:spPr>
          <a:xfrm>
            <a:off x="7941766" y="4420493"/>
            <a:ext cx="327893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AAB8C7"/>
                </a:solidFill>
                <a:latin typeface="Inter" pitchFamily="34" charset="0"/>
                <a:ea typeface="Inter" pitchFamily="34" charset="-122"/>
                <a:cs typeface="Inter" pitchFamily="34" charset="-120"/>
              </a:rPr>
              <a:t>IRR</a:t>
            </a:r>
            <a:endParaRPr lang="en-US" sz="1000" dirty="0"/>
          </a:p>
        </p:txBody>
      </p:sp>
      <p:sp>
        <p:nvSpPr>
          <p:cNvPr id="21" name="Text 19"/>
          <p:cNvSpPr/>
          <p:nvPr/>
        </p:nvSpPr>
        <p:spPr>
          <a:xfrm>
            <a:off x="812800" y="5004693"/>
            <a:ext cx="10883392" cy="21203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0B2440"/>
                </a:solidFill>
                <a:latin typeface="Inter" pitchFamily="34" charset="0"/>
                <a:ea typeface="Inter" pitchFamily="34" charset="-122"/>
                <a:cs typeface="Inter" pitchFamily="34" charset="-120"/>
              </a:rPr>
              <a:t>Puente de retorno</a:t>
            </a:r>
            <a:endParaRPr lang="en-US" sz="1050" dirty="0"/>
          </a:p>
        </p:txBody>
      </p:sp>
      <p:sp>
        <p:nvSpPr>
          <p:cNvPr id="22" name="Text 20"/>
          <p:cNvSpPr/>
          <p:nvPr/>
        </p:nvSpPr>
        <p:spPr>
          <a:xfrm>
            <a:off x="812800" y="5496123"/>
            <a:ext cx="2086522"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2F5FA8"/>
                </a:solidFill>
                <a:latin typeface="Inter" pitchFamily="34" charset="0"/>
                <a:ea typeface="Inter" pitchFamily="34" charset="-122"/>
                <a:cs typeface="Inter" pitchFamily="34" charset="-120"/>
              </a:rPr>
              <a:t>■</a:t>
            </a:r>
            <a:r>
              <a:rPr lang="en-US" sz="1000" dirty="0">
                <a:solidFill>
                  <a:srgbClr val="5B6B7A"/>
                </a:solidFill>
                <a:latin typeface="Inter" pitchFamily="34" charset="0"/>
                <a:ea typeface="Inter" pitchFamily="34" charset="-122"/>
                <a:cs typeface="Inter" pitchFamily="34" charset="-120"/>
              </a:rPr>
              <a:t> Crecimiento de EBITDA — 69%</a:t>
            </a:r>
            <a:endParaRPr lang="en-US" sz="1000" dirty="0"/>
          </a:p>
        </p:txBody>
      </p:sp>
      <p:sp>
        <p:nvSpPr>
          <p:cNvPr id="23" name="Text 21"/>
          <p:cNvSpPr/>
          <p:nvPr/>
        </p:nvSpPr>
        <p:spPr>
          <a:xfrm>
            <a:off x="3092549" y="5496123"/>
            <a:ext cx="200629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B7BC4"/>
                </a:solidFill>
                <a:latin typeface="Inter" pitchFamily="34" charset="0"/>
                <a:ea typeface="Inter" pitchFamily="34" charset="-122"/>
                <a:cs typeface="Inter" pitchFamily="34" charset="-120"/>
              </a:rPr>
              <a:t>■</a:t>
            </a:r>
            <a:r>
              <a:rPr lang="en-US" sz="1000" dirty="0">
                <a:solidFill>
                  <a:srgbClr val="5B6B7A"/>
                </a:solidFill>
                <a:latin typeface="Inter" pitchFamily="34" charset="0"/>
                <a:ea typeface="Inter" pitchFamily="34" charset="-122"/>
                <a:cs typeface="Inter" pitchFamily="34" charset="-120"/>
              </a:rPr>
              <a:t> Expansión de múltiplo — 24%</a:t>
            </a:r>
            <a:endParaRPr lang="en-US" sz="1000" dirty="0"/>
          </a:p>
        </p:txBody>
      </p:sp>
      <p:sp>
        <p:nvSpPr>
          <p:cNvPr id="24" name="Text 22"/>
          <p:cNvSpPr/>
          <p:nvPr/>
        </p:nvSpPr>
        <p:spPr>
          <a:xfrm>
            <a:off x="5294412" y="5496123"/>
            <a:ext cx="178606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C7CED6"/>
                </a:solidFill>
                <a:latin typeface="Inter" pitchFamily="34" charset="0"/>
                <a:ea typeface="Inter" pitchFamily="34" charset="-122"/>
                <a:cs typeface="Inter" pitchFamily="34" charset="-120"/>
              </a:rPr>
              <a:t>■</a:t>
            </a:r>
            <a:r>
              <a:rPr lang="en-US" sz="1000" dirty="0">
                <a:solidFill>
                  <a:srgbClr val="5B6B7A"/>
                </a:solidFill>
                <a:latin typeface="Inter" pitchFamily="34" charset="0"/>
                <a:ea typeface="Inter" pitchFamily="34" charset="-122"/>
                <a:cs typeface="Inter" pitchFamily="34" charset="-120"/>
              </a:rPr>
              <a:t> Desapalancamiento — 6%</a:t>
            </a:r>
            <a:endParaRPr lang="en-US" sz="1000" dirty="0"/>
          </a:p>
        </p:txBody>
      </p:sp>
      <p:sp>
        <p:nvSpPr>
          <p:cNvPr id="25" name="Text 23"/>
          <p:cNvSpPr/>
          <p:nvPr/>
        </p:nvSpPr>
        <p:spPr>
          <a:xfrm>
            <a:off x="812800" y="6264970"/>
            <a:ext cx="9156700" cy="212030"/>
          </a:xfrm>
          <a:prstGeom prst="rect">
            <a:avLst/>
          </a:prstGeom>
          <a:noFill/>
          <a:ln/>
        </p:spPr>
        <p:txBody>
          <a:bodyPr wrap="square" lIns="0" tIns="0" rIns="0" bIns="0" rtlCol="0" anchor="t">
            <a:normAutofit/>
          </a:bodyPr>
          <a:lstStyle/>
          <a:p>
            <a:pPr marL="0" indent="0" algn="l">
              <a:lnSpc>
                <a:spcPts val="1470"/>
              </a:lnSpc>
              <a:buNone/>
            </a:pPr>
            <a:r>
              <a:rPr lang="en-US" sz="1050" dirty="0" err="1">
                <a:solidFill>
                  <a:srgbClr val="8A94A0"/>
                </a:solidFill>
                <a:latin typeface="Inter" pitchFamily="34" charset="0"/>
                <a:ea typeface="Inter" pitchFamily="34" charset="-122"/>
                <a:cs typeface="Inter" pitchFamily="34" charset="-120"/>
              </a:rPr>
              <a:t>Supuestos</a:t>
            </a:r>
            <a:r>
              <a:rPr lang="en-US" sz="1050" dirty="0">
                <a:solidFill>
                  <a:srgbClr val="8A94A0"/>
                </a:solidFill>
                <a:latin typeface="Inter" pitchFamily="34" charset="0"/>
                <a:ea typeface="Inter" pitchFamily="34" charset="-122"/>
                <a:cs typeface="Inter" pitchFamily="34" charset="-120"/>
              </a:rPr>
              <a:t>: </a:t>
            </a:r>
            <a:r>
              <a:rPr lang="en-US" sz="1050" dirty="0" err="1">
                <a:solidFill>
                  <a:srgbClr val="8A94A0"/>
                </a:solidFill>
                <a:latin typeface="Inter" pitchFamily="34" charset="0"/>
                <a:ea typeface="Inter" pitchFamily="34" charset="-122"/>
                <a:cs typeface="Inter" pitchFamily="34" charset="-120"/>
              </a:rPr>
              <a:t>múltiplo</a:t>
            </a:r>
            <a:r>
              <a:rPr lang="en-US" sz="1050" dirty="0">
                <a:solidFill>
                  <a:srgbClr val="8A94A0"/>
                </a:solidFill>
                <a:latin typeface="Inter" pitchFamily="34" charset="0"/>
                <a:ea typeface="Inter" pitchFamily="34" charset="-122"/>
                <a:cs typeface="Inter" pitchFamily="34" charset="-120"/>
              </a:rPr>
              <a:t> entrada 7.0x / salida 8.5x, TRM 3,192 · 2 / 3</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096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2F5FA8"/>
                </a:solidFill>
                <a:latin typeface="IBM Plex Mono" pitchFamily="34" charset="0"/>
                <a:ea typeface="IBM Plex Mono" pitchFamily="34" charset="-122"/>
                <a:cs typeface="IBM Plex Mono" pitchFamily="34" charset="-120"/>
              </a:rPr>
              <a:t>RIESGOS Y SALIDA</a:t>
            </a:r>
            <a:endParaRPr lang="en-US" sz="1100" dirty="0"/>
          </a:p>
        </p:txBody>
      </p:sp>
      <p:sp>
        <p:nvSpPr>
          <p:cNvPr id="3" name="Text 1"/>
          <p:cNvSpPr/>
          <p:nvPr/>
        </p:nvSpPr>
        <p:spPr>
          <a:xfrm>
            <a:off x="812800" y="109726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B2440"/>
                </a:solidFill>
                <a:latin typeface="Inter" pitchFamily="34" charset="0"/>
                <a:ea typeface="Inter" pitchFamily="34" charset="-122"/>
                <a:cs typeface="Inter" pitchFamily="34" charset="-120"/>
              </a:rPr>
              <a:t>Riesgos principales y cómo mitigarlos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666180"/>
          <a:ext cx="10566400" cy="2355455"/>
        </p:xfrm>
        <a:graphic>
          <a:graphicData uri="http://schemas.openxmlformats.org/drawingml/2006/table">
            <a:tbl>
              <a:tblPr/>
              <a:tblGrid>
                <a:gridCol w="3803904">
                  <a:extLst>
                    <a:ext uri="{9D8B030D-6E8A-4147-A177-3AD203B41FA5}">
                      <a16:colId xmlns:a16="http://schemas.microsoft.com/office/drawing/2014/main" val="20000"/>
                    </a:ext>
                  </a:extLst>
                </a:gridCol>
                <a:gridCol w="6762496">
                  <a:extLst>
                    <a:ext uri="{9D8B030D-6E8A-4147-A177-3AD203B41FA5}">
                      <a16:colId xmlns:a16="http://schemas.microsoft.com/office/drawing/2014/main" val="20001"/>
                    </a:ext>
                  </a:extLst>
                </a:gridCol>
              </a:tblGrid>
              <a:tr h="471091">
                <a:tc>
                  <a:txBody>
                    <a:bodyPr/>
                    <a:lstStyle/>
                    <a:p>
                      <a:pPr marL="0" indent="0">
                        <a:lnSpc>
                          <a:spcPts val="1610"/>
                        </a:lnSpc>
                        <a:buNone/>
                      </a:pPr>
                      <a:r>
                        <a:rPr lang="en-US" sz="1150" b="1" dirty="0">
                          <a:solidFill>
                            <a:srgbClr val="FFFFFF"/>
                          </a:solidFill>
                          <a:latin typeface="Inter" pitchFamily="34" charset="0"/>
                          <a:ea typeface="Inter" pitchFamily="34" charset="-122"/>
                          <a:cs typeface="Inter" pitchFamily="34" charset="-120"/>
                        </a:rPr>
                        <a:t>Riesgo</a:t>
                      </a:r>
                      <a:endParaRPr lang="en-US" sz="1150" dirty="0">
                        <a:latin typeface="Inter" charset="0"/>
                        <a:ea typeface="Inter" charset="0"/>
                        <a:cs typeface="Inter" charset="0"/>
                      </a:endParaRPr>
                    </a:p>
                  </a:txBody>
                  <a:tcPr marL="152400" marR="152400" marT="127000" marB="127000">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0B2440"/>
                    </a:solidFill>
                  </a:tcPr>
                </a:tc>
                <a:tc>
                  <a:txBody>
                    <a:bodyPr/>
                    <a:lstStyle/>
                    <a:p>
                      <a:pPr marL="0" indent="0">
                        <a:lnSpc>
                          <a:spcPts val="1610"/>
                        </a:lnSpc>
                        <a:buNone/>
                      </a:pPr>
                      <a:r>
                        <a:rPr lang="en-US" sz="1150" b="1" dirty="0">
                          <a:solidFill>
                            <a:srgbClr val="FFFFFF"/>
                          </a:solidFill>
                          <a:latin typeface="Inter" pitchFamily="34" charset="0"/>
                          <a:ea typeface="Inter" pitchFamily="34" charset="-122"/>
                          <a:cs typeface="Inter" pitchFamily="34" charset="-120"/>
                        </a:rPr>
                        <a:t>Mitigante</a:t>
                      </a:r>
                      <a:endParaRPr lang="en-US" sz="1150" dirty="0">
                        <a:latin typeface="Inter" charset="0"/>
                        <a:ea typeface="Inter" charset="0"/>
                        <a:cs typeface="Inter" charset="0"/>
                      </a:endParaRPr>
                    </a:p>
                  </a:txBody>
                  <a:tcPr marL="152400" marR="152400" marT="127000" marB="127000">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0B2440"/>
                    </a:solidFill>
                  </a:tcPr>
                </a:tc>
                <a:extLst>
                  <a:ext uri="{0D108BD9-81ED-4DB2-BD59-A6C34878D82A}">
                    <a16:rowId xmlns:a16="http://schemas.microsoft.com/office/drawing/2014/main" val="10000"/>
                  </a:ext>
                </a:extLst>
              </a:tr>
              <a:tr h="471091">
                <a:tc>
                  <a:txBody>
                    <a:bodyPr/>
                    <a:lstStyle/>
                    <a:p>
                      <a:pPr marL="0" indent="0">
                        <a:lnSpc>
                          <a:spcPts val="1610"/>
                        </a:lnSpc>
                        <a:buNone/>
                      </a:pPr>
                      <a:r>
                        <a:rPr lang="en-US" sz="1150" dirty="0">
                          <a:solidFill>
                            <a:srgbClr val="12202E"/>
                          </a:solidFill>
                          <a:latin typeface="Inter" pitchFamily="34" charset="0"/>
                          <a:ea typeface="Inter" pitchFamily="34" charset="-122"/>
                          <a:cs typeface="Inter" pitchFamily="34" charset="-120"/>
                        </a:rPr>
                        <a:t>Mercado fragmentado y competido</a:t>
                      </a:r>
                      <a:endParaRPr lang="en-US" sz="1150" dirty="0">
                        <a:latin typeface="Inter" charset="0"/>
                        <a:ea typeface="Inter" charset="0"/>
                        <a:cs typeface="Inter" charset="0"/>
                      </a:endParaRPr>
                    </a:p>
                  </a:txBody>
                  <a:tcPr marL="152400" marR="152400" marT="127000" marB="127000">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FFFFFF"/>
                    </a:solidFill>
                  </a:tcPr>
                </a:tc>
                <a:tc>
                  <a:txBody>
                    <a:bodyPr/>
                    <a:lstStyle/>
                    <a:p>
                      <a:pPr marL="0" indent="0">
                        <a:lnSpc>
                          <a:spcPts val="1610"/>
                        </a:lnSpc>
                        <a:buNone/>
                      </a:pPr>
                      <a:r>
                        <a:rPr lang="en-US" sz="1150" dirty="0">
                          <a:solidFill>
                            <a:srgbClr val="5B6B7A"/>
                          </a:solidFill>
                          <a:latin typeface="Inter" pitchFamily="34" charset="0"/>
                          <a:ea typeface="Inter" pitchFamily="34" charset="-122"/>
                          <a:cs typeface="Inter" pitchFamily="34" charset="-120"/>
                        </a:rPr>
                        <a:t>Consolidación vía M&amp;A, no vía precio — roll-up con 30 años de marca</a:t>
                      </a:r>
                      <a:endParaRPr lang="en-US" sz="1150" dirty="0">
                        <a:latin typeface="Inter" charset="0"/>
                        <a:ea typeface="Inter" charset="0"/>
                        <a:cs typeface="Inter" charset="0"/>
                      </a:endParaRPr>
                    </a:p>
                  </a:txBody>
                  <a:tcPr marL="152400" marR="152400" marT="127000" marB="127000">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1091">
                <a:tc>
                  <a:txBody>
                    <a:bodyPr/>
                    <a:lstStyle/>
                    <a:p>
                      <a:pPr marL="0" indent="0">
                        <a:lnSpc>
                          <a:spcPts val="1610"/>
                        </a:lnSpc>
                        <a:buNone/>
                      </a:pPr>
                      <a:r>
                        <a:rPr lang="en-US" sz="1150" dirty="0">
                          <a:solidFill>
                            <a:srgbClr val="12202E"/>
                          </a:solidFill>
                          <a:latin typeface="Inter" pitchFamily="34" charset="0"/>
                          <a:ea typeface="Inter" pitchFamily="34" charset="-122"/>
                          <a:cs typeface="Inter" pitchFamily="34" charset="-120"/>
                        </a:rPr>
                        <a:t>Ángulo de transacción sin confirmar</a:t>
                      </a:r>
                      <a:endParaRPr lang="en-US" sz="1150" dirty="0">
                        <a:latin typeface="Inter" charset="0"/>
                        <a:ea typeface="Inter" charset="0"/>
                        <a:cs typeface="Inter" charset="0"/>
                      </a:endParaRPr>
                    </a:p>
                  </a:txBody>
                  <a:tcPr marL="152400" marR="152400" marT="127000" marB="127000">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EDEFF2"/>
                    </a:solidFill>
                  </a:tcPr>
                </a:tc>
                <a:tc>
                  <a:txBody>
                    <a:bodyPr/>
                    <a:lstStyle/>
                    <a:p>
                      <a:pPr marL="0" indent="0">
                        <a:lnSpc>
                          <a:spcPts val="1610"/>
                        </a:lnSpc>
                        <a:buNone/>
                      </a:pPr>
                      <a:r>
                        <a:rPr lang="en-US" sz="1150" dirty="0">
                          <a:solidFill>
                            <a:srgbClr val="5B6B7A"/>
                          </a:solidFill>
                          <a:latin typeface="Inter" pitchFamily="34" charset="0"/>
                          <a:ea typeface="Inter" pitchFamily="34" charset="-122"/>
                          <a:cs typeface="Inter" pitchFamily="34" charset="-120"/>
                        </a:rPr>
                        <a:t>26+ años de liderazgo continuo del CEO y campaña de visibilidad pública reciente</a:t>
                      </a:r>
                      <a:endParaRPr lang="en-US" sz="1150" dirty="0">
                        <a:latin typeface="Inter" charset="0"/>
                        <a:ea typeface="Inter" charset="0"/>
                        <a:cs typeface="Inter" charset="0"/>
                      </a:endParaRPr>
                    </a:p>
                  </a:txBody>
                  <a:tcPr marL="152400" marR="152400" marT="127000" marB="127000">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EDEFF2"/>
                    </a:solidFill>
                  </a:tcPr>
                </a:tc>
                <a:extLst>
                  <a:ext uri="{0D108BD9-81ED-4DB2-BD59-A6C34878D82A}">
                    <a16:rowId xmlns:a16="http://schemas.microsoft.com/office/drawing/2014/main" val="10002"/>
                  </a:ext>
                </a:extLst>
              </a:tr>
              <a:tr h="471091">
                <a:tc>
                  <a:txBody>
                    <a:bodyPr/>
                    <a:lstStyle/>
                    <a:p>
                      <a:pPr marL="0" indent="0">
                        <a:lnSpc>
                          <a:spcPts val="1610"/>
                        </a:lnSpc>
                        <a:buNone/>
                      </a:pPr>
                      <a:r>
                        <a:rPr lang="en-US" sz="1150" dirty="0">
                          <a:solidFill>
                            <a:srgbClr val="12202E"/>
                          </a:solidFill>
                          <a:latin typeface="Inter" pitchFamily="34" charset="0"/>
                          <a:ea typeface="Inter" pitchFamily="34" charset="-122"/>
                          <a:cs typeface="Inter" pitchFamily="34" charset="-120"/>
                        </a:rPr>
                        <a:t>Volatilidad de EBIT en 2023–2024</a:t>
                      </a:r>
                      <a:endParaRPr lang="en-US" sz="1150" dirty="0">
                        <a:latin typeface="Inter" charset="0"/>
                        <a:ea typeface="Inter" charset="0"/>
                        <a:cs typeface="Inter" charset="0"/>
                      </a:endParaRPr>
                    </a:p>
                  </a:txBody>
                  <a:tcPr marL="152400" marR="152400" marT="127000" marB="127000">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FFFFFF"/>
                    </a:solidFill>
                  </a:tcPr>
                </a:tc>
                <a:tc>
                  <a:txBody>
                    <a:bodyPr/>
                    <a:lstStyle/>
                    <a:p>
                      <a:pPr marL="0" indent="0">
                        <a:lnSpc>
                          <a:spcPts val="1610"/>
                        </a:lnSpc>
                        <a:buNone/>
                      </a:pPr>
                      <a:r>
                        <a:rPr lang="en-US" sz="1150" dirty="0">
                          <a:solidFill>
                            <a:srgbClr val="5B6B7A"/>
                          </a:solidFill>
                          <a:latin typeface="Inter" pitchFamily="34" charset="0"/>
                          <a:ea typeface="Inter" pitchFamily="34" charset="-122"/>
                          <a:cs typeface="Inter" pitchFamily="34" charset="-120"/>
                        </a:rPr>
                        <a:t>Flujo de caja 2x la utilidad, margen bruto 74%, recuperó +58% en 2025</a:t>
                      </a:r>
                      <a:endParaRPr lang="en-US" sz="1150" dirty="0">
                        <a:latin typeface="Inter" charset="0"/>
                        <a:ea typeface="Inter" charset="0"/>
                        <a:cs typeface="Inter" charset="0"/>
                      </a:endParaRPr>
                    </a:p>
                  </a:txBody>
                  <a:tcPr marL="152400" marR="152400" marT="127000" marB="127000">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1091">
                <a:tc>
                  <a:txBody>
                    <a:bodyPr/>
                    <a:lstStyle/>
                    <a:p>
                      <a:pPr marL="0" indent="0">
                        <a:lnSpc>
                          <a:spcPts val="1610"/>
                        </a:lnSpc>
                        <a:buNone/>
                      </a:pPr>
                      <a:r>
                        <a:rPr lang="en-US" sz="1150" dirty="0">
                          <a:solidFill>
                            <a:srgbClr val="12202E"/>
                          </a:solidFill>
                          <a:latin typeface="Inter" pitchFamily="34" charset="0"/>
                          <a:ea typeface="Inter" pitchFamily="34" charset="-122"/>
                          <a:cs typeface="Inter" pitchFamily="34" charset="-120"/>
                        </a:rPr>
                        <a:t>Salto del pasivo por impuestos (~20x)</a:t>
                      </a:r>
                      <a:endParaRPr lang="en-US" sz="1150" dirty="0">
                        <a:latin typeface="Inter" charset="0"/>
                        <a:ea typeface="Inter" charset="0"/>
                        <a:cs typeface="Inter" charset="0"/>
                      </a:endParaRPr>
                    </a:p>
                  </a:txBody>
                  <a:tcPr marL="152400" marR="152400" marT="127000" marB="127000">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EDEFF2"/>
                    </a:solidFill>
                  </a:tcPr>
                </a:tc>
                <a:tc>
                  <a:txBody>
                    <a:bodyPr/>
                    <a:lstStyle/>
                    <a:p>
                      <a:pPr marL="0" indent="0">
                        <a:lnSpc>
                          <a:spcPts val="1610"/>
                        </a:lnSpc>
                        <a:buNone/>
                      </a:pPr>
                      <a:r>
                        <a:rPr lang="en-US" sz="1150" dirty="0">
                          <a:solidFill>
                            <a:srgbClr val="5B6B7A"/>
                          </a:solidFill>
                          <a:latin typeface="Inter" pitchFamily="34" charset="0"/>
                          <a:ea typeface="Inter" pitchFamily="34" charset="-122"/>
                          <a:cs typeface="Inter" pitchFamily="34" charset="-120"/>
                        </a:rPr>
                        <a:t>Verificar en diligencia formal antes del cierre</a:t>
                      </a:r>
                      <a:endParaRPr lang="en-US" sz="1150" dirty="0">
                        <a:latin typeface="Inter" charset="0"/>
                        <a:ea typeface="Inter" charset="0"/>
                        <a:cs typeface="Inter" charset="0"/>
                      </a:endParaRPr>
                    </a:p>
                  </a:txBody>
                  <a:tcPr marL="152400" marR="152400" marT="127000" marB="127000">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EDEFF2"/>
                    </a:solidFill>
                  </a:tcPr>
                </a:tc>
                <a:extLst>
                  <a:ext uri="{0D108BD9-81ED-4DB2-BD59-A6C34878D82A}">
                    <a16:rowId xmlns:a16="http://schemas.microsoft.com/office/drawing/2014/main" val="10004"/>
                  </a:ext>
                </a:extLst>
              </a:tr>
            </a:tbl>
          </a:graphicData>
        </a:graphic>
      </p:graphicFrame>
      <p:sp>
        <p:nvSpPr>
          <p:cNvPr id="7" name="Shape 4"/>
          <p:cNvSpPr/>
          <p:nvPr/>
        </p:nvSpPr>
        <p:spPr>
          <a:xfrm>
            <a:off x="815975" y="4239815"/>
            <a:ext cx="10560050" cy="1009551"/>
          </a:xfrm>
          <a:prstGeom prst="roundRect">
            <a:avLst>
              <a:gd name="adj" fmla="val 9749"/>
            </a:avLst>
          </a:prstGeom>
          <a:solidFill>
            <a:srgbClr val="FFFFFF"/>
          </a:solidFill>
          <a:ln w="6350">
            <a:solidFill>
              <a:srgbClr val="E1E5EA"/>
            </a:solidFill>
            <a:prstDash val="solid"/>
          </a:ln>
        </p:spPr>
        <p:txBody>
          <a:bodyPr/>
          <a:lstStyle/>
          <a:p>
            <a:endParaRPr lang="es-ES_tradnl"/>
          </a:p>
        </p:txBody>
      </p:sp>
      <p:sp>
        <p:nvSpPr>
          <p:cNvPr id="8" name="Text 5"/>
          <p:cNvSpPr/>
          <p:nvPr/>
        </p:nvSpPr>
        <p:spPr>
          <a:xfrm>
            <a:off x="1073150" y="4420790"/>
            <a:ext cx="10347071"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0B2440"/>
                </a:solidFill>
                <a:latin typeface="Inter" pitchFamily="34" charset="0"/>
                <a:ea typeface="Inter" pitchFamily="34" charset="-122"/>
                <a:cs typeface="Inter" pitchFamily="34" charset="-120"/>
              </a:rPr>
              <a:t>Ruta de salida</a:t>
            </a:r>
            <a:endParaRPr lang="en-US" sz="1350" dirty="0"/>
          </a:p>
        </p:txBody>
      </p:sp>
      <p:sp>
        <p:nvSpPr>
          <p:cNvPr id="9" name="Text 6"/>
          <p:cNvSpPr/>
          <p:nvPr/>
        </p:nvSpPr>
        <p:spPr>
          <a:xfrm>
            <a:off x="1073150" y="4677270"/>
            <a:ext cx="10119569" cy="41652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B6B7A"/>
                </a:solidFill>
                <a:latin typeface="Inter" pitchFamily="34" charset="0"/>
                <a:ea typeface="Inter" pitchFamily="34" charset="-122"/>
                <a:cs typeface="Inter" pitchFamily="34" charset="-120"/>
              </a:rPr>
              <a:t>Venta a un comprador estratégico regional o internacional a 4–5 años, a un múltiplo de 7.5x–9.5x EBITDA. Linzor ya ejecutó esta misma ruta dos veces: vendió Mundo a DigitalBridge y Komax a Grupo Axo.</a:t>
            </a:r>
            <a:endParaRPr lang="en-US" sz="1100" dirty="0"/>
          </a:p>
        </p:txBody>
      </p:sp>
      <p:sp>
        <p:nvSpPr>
          <p:cNvPr id="10" name="Text 7"/>
          <p:cNvSpPr/>
          <p:nvPr/>
        </p:nvSpPr>
        <p:spPr>
          <a:xfrm>
            <a:off x="812800" y="6264970"/>
            <a:ext cx="9156700" cy="212030"/>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8A94A0"/>
                </a:solidFill>
                <a:latin typeface="Inter" pitchFamily="34" charset="0"/>
                <a:ea typeface="Inter" pitchFamily="34" charset="-122"/>
                <a:cs typeface="Inter" pitchFamily="34" charset="-120"/>
              </a:rPr>
              <a:t>Reto Linzor · Manuel De la Tejera González · Repositorio completo: </a:t>
            </a:r>
            <a:r>
              <a:rPr lang="en-US" sz="1050" u="sng" dirty="0">
                <a:solidFill>
                  <a:srgbClr val="2F5FA8"/>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github.com/ManuelDLTG/Reto-Linzor</a:t>
            </a:r>
            <a:r>
              <a:rPr lang="en-US" sz="1050" dirty="0">
                <a:solidFill>
                  <a:srgbClr val="8A94A0"/>
                </a:solidFill>
                <a:latin typeface="Inter" pitchFamily="34" charset="0"/>
                <a:ea typeface="Inter" pitchFamily="34" charset="-122"/>
                <a:cs typeface="Inter" pitchFamily="34" charset="-120"/>
              </a:rPr>
              <a:t> · 3 / 3</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541</Words>
  <Application>Microsoft Macintosh PowerPoint</Application>
  <PresentationFormat>Panorámica</PresentationFormat>
  <Paragraphs>63</Paragraphs>
  <Slides>3</Slides>
  <Notes>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Arial</vt:lpstr>
      <vt:lpstr>IBM Plex Mono</vt:lpstr>
      <vt:lpstr>Inter</vt:lpstr>
      <vt:lpstr>Office Theme</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Reto Linzor — Satrack S.A.S.</dc:title>
  <dc:subject>PptxGenJS Presentation</dc:subject>
  <dc:creator>PptxGenJS</dc:creator>
  <cp:lastModifiedBy>MANUEL ALONSO DE LA TEJERA GONZALEZ</cp:lastModifiedBy>
  <cp:revision>3</cp:revision>
  <dcterms:created xsi:type="dcterms:W3CDTF">2026-09-22T02:05:34Z</dcterms:created>
  <dcterms:modified xsi:type="dcterms:W3CDTF">2026-09-22T02:08:06Z</dcterms:modified>
</cp:coreProperties>
</file>